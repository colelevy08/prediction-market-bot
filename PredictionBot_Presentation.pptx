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0" y="2011680"/>
            <a:ext cx="27432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AFAFA"/>
                </a:solidFill>
                <a:latin typeface="Calibri"/>
              </a:defRPr>
            </a:pPr>
            <a:r>
              <a:t>PredictionBot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4D399"/>
                </a:solidFill>
                <a:latin typeface="Calibri"/>
              </a:defRPr>
            </a:pPr>
            <a:r>
              <a:t>AI-Powered Prediction Market Trading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233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C8C9B"/>
                </a:solidFill>
                <a:latin typeface="Calibri"/>
              </a:defRPr>
            </a:pPr>
            <a:r>
              <a:t>Built for Kalshi  |  Random Forest Ensemble  |  Full-Stack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0505F"/>
                </a:solidFill>
                <a:latin typeface="Calibri"/>
              </a:defRPr>
            </a:pPr>
            <a:r>
              <a:t>React + FastAPI + scikit-learn + Supabase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What PredictionBot does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029200" cy="201168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WHAT IT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FAFAFA"/>
                </a:solidFill>
                <a:latin typeface="Calibri"/>
              </a:defRPr>
            </a:pPr>
            <a:r>
              <a:t>An autonomous trading bot for Kalshi prediction markets</a:t>
            </a:r>
          </a:p>
          <a:p>
            <a:pPr>
              <a:spcAft>
                <a:spcPts val="600"/>
              </a:spcAft>
              <a:defRPr sz="1300" b="0">
                <a:solidFill>
                  <a:srgbClr val="FAFAFA"/>
                </a:solidFill>
                <a:latin typeface="Calibri"/>
              </a:defRPr>
            </a:pPr>
            <a:r>
              <a:t>Uses a 106-feature Random Forest + Gradient Boosting ensemble</a:t>
            </a:r>
          </a:p>
          <a:p>
            <a:pPr>
              <a:spcAft>
                <a:spcPts val="600"/>
              </a:spcAft>
              <a:defRPr sz="1300" b="0">
                <a:solidFill>
                  <a:srgbClr val="FAFAFA"/>
                </a:solidFill>
                <a:latin typeface="Calibri"/>
              </a:defRPr>
            </a:pPr>
            <a:r>
              <a:t>Full-stack dashboard for monitoring, signals, and configuration</a:t>
            </a:r>
          </a:p>
          <a:p>
            <a:pPr>
              <a:spcAft>
                <a:spcPts val="600"/>
              </a:spcAft>
              <a:defRPr sz="1300" b="0">
                <a:solidFill>
                  <a:srgbClr val="FAFAFA"/>
                </a:solidFill>
                <a:latin typeface="Calibri"/>
              </a:defRPr>
            </a:pPr>
            <a:r>
              <a:t>Supports live trading, paper trading, and backtesting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5029200" cy="201168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WHAT IT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945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FAFAFA"/>
                </a:solidFill>
                <a:latin typeface="Calibri"/>
              </a:defRPr>
            </a:pPr>
            <a:r>
              <a:t>Scans markets every 60s for mispriced opportunities</a:t>
            </a:r>
          </a:p>
          <a:p>
            <a:pPr>
              <a:spcAft>
                <a:spcPts val="600"/>
              </a:spcAft>
              <a:defRPr sz="1300" b="0">
                <a:solidFill>
                  <a:srgbClr val="FAFAFA"/>
                </a:solidFill>
                <a:latin typeface="Calibri"/>
              </a:defRPr>
            </a:pPr>
            <a:r>
              <a:t>Generates entry/exit signals with risk validation</a:t>
            </a:r>
          </a:p>
          <a:p>
            <a:pPr>
              <a:spcAft>
                <a:spcPts val="600"/>
              </a:spcAft>
              <a:defRPr sz="1300" b="0">
                <a:solidFill>
                  <a:srgbClr val="FAFAFA"/>
                </a:solidFill>
                <a:latin typeface="Calibri"/>
              </a:defRPr>
            </a:pPr>
            <a:r>
              <a:t>Sizes positions using Kelly Criterion (half-Kelly default)</a:t>
            </a:r>
          </a:p>
          <a:p>
            <a:pPr>
              <a:spcAft>
                <a:spcPts val="600"/>
              </a:spcAft>
              <a:defRPr sz="1300" b="0">
                <a:solidFill>
                  <a:srgbClr val="FAFAFA"/>
                </a:solidFill>
                <a:latin typeface="Calibri"/>
              </a:defRPr>
            </a:pPr>
            <a:r>
              <a:t>Tracks performance with Sharpe ratio, MAE/MFE, equity curves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10698480" cy="219456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CC15"/>
                </a:solidFill>
                <a:latin typeface="Calibri"/>
              </a:defRPr>
            </a:pPr>
            <a:r>
              <a:t>Signal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RF + AI dual scan</a:t>
            </a:r>
            <a:br/>
            <a:r>
              <a:t>70%+ confidence filter</a:t>
            </a:r>
            <a:br/>
            <a:r>
              <a:t>Entry &amp; exit signals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480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CC15"/>
                </a:solidFill>
                <a:latin typeface="Calibri"/>
              </a:defRPr>
            </a:pPr>
            <a:r>
              <a:t>Risk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48463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Daily loss limits ($100)</a:t>
            </a:r>
            <a:br/>
            <a:r>
              <a:t>Max 10 positions</a:t>
            </a:r>
            <a:br/>
            <a:r>
              <a:t>8% min edge threshold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480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CC15"/>
                </a:solidFill>
                <a:latin typeface="Calibri"/>
              </a:defRPr>
            </a:pPr>
            <a:r>
              <a:t>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48463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24/7 auto-scan loop</a:t>
            </a:r>
            <a:br/>
            <a:r>
              <a:t>Auto-trade execution</a:t>
            </a:r>
            <a:br/>
            <a:r>
              <a:t>Scheduled model retraining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4480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CC15"/>
                </a:solidFill>
                <a:latin typeface="Calibri"/>
              </a:defRPr>
            </a:pPr>
            <a:r>
              <a:t>Analytics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48463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10+ performance metrics</a:t>
            </a:r>
            <a:br/>
            <a:r>
              <a:t>Equity curves &amp; charts</a:t>
            </a:r>
            <a:br/>
            <a:r>
              <a:t>CSV export, toast notifications, keyboard shortcuts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Tech stack and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10058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Deploy: Vercel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0116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React 18 + Vite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0116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Tailwind CSS (dark theme)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0116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Recharts (equity curves, bar charts)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20116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7 page components + API layer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926080"/>
            <a:ext cx="10698480" cy="10058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9992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0A5FA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337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Deploy: Railway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2004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FastAPI (40+ REST endpoints)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2004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scikit-learn (RF + GB ensemble)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2004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APScheduler (auto-scan, retrain cron)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Pydantic config + risk 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114800"/>
            <a:ext cx="10698480" cy="10058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1879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526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Deploy: Supabase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3891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Trade history &amp; scan logs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43891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Training data persistence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3891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Performance snapshots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43891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PostgreSQL (hosted)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303520"/>
            <a:ext cx="10698480" cy="10058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3766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ACC15"/>
                </a:solidFill>
                <a:latin typeface="Calibri"/>
              </a:defRPr>
            </a:pPr>
            <a:r>
              <a:t>EXTERNAL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715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Deploy: APIs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5778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Kalshi Trade API v2 (markets + orders)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55778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Anthropic Claude (AI market analysis)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55778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Slack / Discord (trade alerts)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55778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DraftKings (arbitrage detection)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27432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C3C46"/>
                </a:solidFill>
                <a:latin typeface="Calibri"/>
              </a:defRPr>
            </a:pPr>
            <a:r>
              <a:t>     |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9319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C3C46"/>
                </a:solidFill>
                <a:latin typeface="Calibri"/>
              </a:defRPr>
            </a:pPr>
            <a:r>
              <a:t>     |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51206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C3C46"/>
                </a:solidFill>
                <a:latin typeface="Calibri"/>
              </a:defRPr>
            </a:pPr>
            <a:r>
              <a:t>     |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Trading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ML ensemble + systematic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029200" cy="43891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ML ENSEMBLE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2860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Random Forest (500 trees) + Gradient Boosting (150 trees)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88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7889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106 features across 8 categories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91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Weighting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2918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70% RF + 30% GB (Brier score optimized)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94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Calibration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794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CalibratedClassifierCV for probability estimates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297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297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GridSearchCV, AUC 0.84+ on 1000+ settled markets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00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Fallback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800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12-signal heuristic when model is untrained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394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Feature Categories: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669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6473"/>
                </a:solidFill>
                <a:latin typeface="Calibri"/>
              </a:defRPr>
            </a:pPr>
            <a:r>
              <a:t>Price (18) | Volume (14) | Time Decay (14) | Orderbook (12) | Cross-Market (10) | Momentum (8) | Historical (14) | Interactions (16)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737360"/>
            <a:ext cx="5029200" cy="43891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1828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  <a:latin typeface="Calibri"/>
              </a:defRPr>
            </a:pPr>
            <a:r>
              <a:t>TRADING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Entry Rule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Calibri"/>
              </a:defRPr>
            </a:pPr>
            <a:r>
              <a:t>market_price &lt;= model_prob x 0.5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6700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Buy when market is 2x undervalued vs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0540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Exit Rule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05409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Calibri"/>
              </a:defRPr>
            </a:pPr>
            <a:r>
              <a:t>market_price &gt;= model_prob x 0.9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4381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Sell when 90% of edge has corrected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82219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Min Confidence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822191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CC15"/>
                </a:solidFill>
                <a:latin typeface="Calibri"/>
              </a:defRPr>
            </a:pPr>
            <a:r>
              <a:t>70%+ model confidence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206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Position Sizing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206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Kelly Criterion (half-Kelly = 0.5)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4590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size = edge x confidence x kelly_frac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497433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Max Bet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97433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$25 per trade (configurable)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358383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Daily Loss Limit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5358383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Calibri"/>
              </a:defRPr>
            </a:pPr>
            <a:r>
              <a:t>$100 max daily drawdown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574243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Max Positions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5742431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10 simultaneous positions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Dashboard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Strategy overview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8229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Strategy Overview Bar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810512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Shows ensemble config (RF 500 + GB 150 x 106 features), entry rule (mkt &lt;= model x 0.5), exit rule (mkt &gt;= model x 0.9), and 70% min confidence requirement.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10698480" cy="8229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706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  <a:latin typeface="Calibri"/>
              </a:defRPr>
            </a:pPr>
            <a:r>
              <a:t>6 Stat Cards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770632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Win Rate (with progress bar), Sharpe Ratio, Total P&amp;L (dollars), Open Positions count, Model Accuracy (OOB score), and Total Trades.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10698480" cy="8229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3075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Calibri"/>
              </a:defRPr>
            </a:pPr>
            <a:r>
              <a:t>Equity Curve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730752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Line chart tracking cumulative equity over trade sequence. Green line on dark background using Recharts.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17720"/>
            <a:ext cx="10698480" cy="8229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6908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CC15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690872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Horizontal bar chart of top 10 model features ranked by importance percentage. Shows which signals drive predictions.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77840"/>
            <a:ext cx="10698480" cy="8229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AFA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650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FAFA"/>
                </a:solidFill>
                <a:latin typeface="Calibri"/>
              </a:defRPr>
            </a:pPr>
            <a:r>
              <a:t>Top 3 Opportunities + Scan Summary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5650992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Top 3 market opportunities with earning potential calculator ($10-$500 bet selector). Auto-refreshes every 30s. Last-updated timestamp shows data freshness. Scan summary with signal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Signals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Entry and exit signal discovery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73152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82880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RF Scan (Random Forest only)  |  RF + AI Scan (adds Claude analysis)  |  Filter: All / Ready / RF /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43200"/>
            <a:ext cx="10698480" cy="18288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ENTRY SIGNALS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00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Ticker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20040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Market identifier (e.g. KXBTC-25MAR)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43814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438144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YES or NO — which side to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675887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Model Prob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675887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RF ensemble's estimated probability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1363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Market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913632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Current implied probability from bid/ask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151376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151376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Model minus market — positive = undervalued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3891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Confidence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3891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Model's certainty (must be 70%+)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62686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Risk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626864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Pass/fail from risk manager (position limits, daily loss)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646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86460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Execute trade button (sends limit order to Kalshi)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846320"/>
            <a:ext cx="10698480" cy="12801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7171"/>
                </a:solidFill>
                <a:latin typeface="Calibri"/>
              </a:defRPr>
            </a:pPr>
            <a:r>
              <a:t>EXIT SIGNALS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3035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Shows open positions that have hit the exit threshold (market &gt;= model x 0.9).</a:t>
            </a:r>
            <a:br/>
            <a:r>
              <a:t>Displays ticker, current P&amp;L, model vs market probability, and a Sell button for manual exit.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Portfolio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Positions, orders, and exposure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514600" cy="9144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Cash Balance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Available cash not in positions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39" y="1737360"/>
            <a:ext cx="2514600" cy="9144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19" y="1828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  <a:latin typeface="Calibri"/>
              </a:defRPr>
            </a:pPr>
            <a:r>
              <a:t>Open Positions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19" y="21488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Markets with active holdings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737360"/>
            <a:ext cx="2514600" cy="9144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9" y="1828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Calibri"/>
              </a:defRPr>
            </a:pPr>
            <a:r>
              <a:t>Open Orders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39" y="21488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Pending limit orders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1737360"/>
            <a:ext cx="2514600" cy="9144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1828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CC15"/>
                </a:solidFill>
                <a:latin typeface="Calibri"/>
              </a:defRPr>
            </a:pPr>
            <a:r>
              <a:t>Unrealized P&amp;L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21488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Current profit/loss on open positions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926080"/>
            <a:ext cx="6858000" cy="22860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017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  <a:latin typeface="Calibri"/>
              </a:defRPr>
            </a:pPr>
            <a:r>
              <a:t>POSITIONS 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38328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Ticker, side, contracts held, average entry price</a:t>
            </a:r>
          </a:p>
          <a:p>
            <a:pPr>
              <a:spcAft>
                <a:spcPts val="6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Current market price and unrealized P&amp;L per position</a:t>
            </a:r>
          </a:p>
          <a:p>
            <a:pPr>
              <a:spcAft>
                <a:spcPts val="6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Color-coded: green for profit, red for loss</a:t>
            </a:r>
          </a:p>
          <a:p>
            <a:pPr>
              <a:spcAft>
                <a:spcPts val="6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Total unrealized P&amp;L aggregated across all positions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926080"/>
            <a:ext cx="3566160" cy="10058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017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78BFA"/>
                </a:solidFill>
                <a:latin typeface="Calibri"/>
              </a:defRPr>
            </a:pPr>
            <a:r>
              <a:t>OPEN ORDERS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337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Pending limit orders with cancel button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4206240"/>
            <a:ext cx="3566160" cy="10058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4297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ACC15"/>
                </a:solidFill>
                <a:latin typeface="Calibri"/>
              </a:defRPr>
            </a:pPr>
            <a:r>
              <a:t>CATEGORY HEATMAP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617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Visual exposure breakdown by market category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Markets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Search, sort, filter, and analyze Kalshi markets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18288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MARKETS TABLE (with search, sort by 6 criteria, status filter pills)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Ticker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19456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Unique market identifier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43230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32304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Market question (e.g. 'Will BTC exceed $100K?')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7004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YES Bid / 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670048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Current bid and ask prices for YES contracts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07791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907791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Ask minus bid — liquidity indicator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14553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Volume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145536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Total contracts traded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383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OI (Open Interest)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38328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Outstanding contracts not yet settled — measures market depth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6210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621024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Opens detailed model analysis for that market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840480"/>
            <a:ext cx="10698480" cy="23774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931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  <a:latin typeface="Calibri"/>
              </a:defRPr>
            </a:pPr>
            <a:r>
              <a:t>MARKET DETAIL (ANALYZE VIEW)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2976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Model Probability vs Market Probability comparison cards</a:t>
            </a:r>
          </a:p>
          <a:p>
            <a:pPr>
              <a:spcAft>
                <a:spcPts val="4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Calculated Edge (model - market) with color coding</a:t>
            </a:r>
          </a:p>
          <a:p>
            <a:pPr>
              <a:spcAft>
                <a:spcPts val="4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Bid/Ask Spread visualization</a:t>
            </a:r>
          </a:p>
          <a:p>
            <a:pPr>
              <a:spcAft>
                <a:spcPts val="4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Entry Signal indicator (green when market &lt;= model x 0.5)</a:t>
            </a:r>
          </a:p>
          <a:p>
            <a:pPr>
              <a:spcAft>
                <a:spcPts val="4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Exit Signal indicator (red when market &gt;= model x 0.9)</a:t>
            </a:r>
          </a:p>
          <a:p>
            <a:pPr>
              <a:spcAft>
                <a:spcPts val="4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Entry/Exit threshold values displayed</a:t>
            </a:r>
          </a:p>
          <a:p>
            <a:pPr>
              <a:spcAft>
                <a:spcPts val="4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Full feature list — all 106 model inputs for that market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Performance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Comprehensive trading analytics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16459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10 METRIC CARDS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Win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9456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% of profitable 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1945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Sharpe Ratio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19456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Risk-adjusted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9" y="21945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Total P&amp;L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219456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Cumulative profit/loss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1945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Profit Factor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19456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Gross profit / gross loss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19" y="21945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Avg MAE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599" y="219456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Max adverse excursion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Avg MFE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6974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Max favorable excursion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6974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Avg Log Return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6974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Mean log return per trade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26974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Avg 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59" y="26974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Mean predicted edge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974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Max Drawdown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974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Largest peak-to-trough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19" y="26974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Best / Worst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599" y="26974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Extreme trade P&amp;L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657600"/>
            <a:ext cx="3383280" cy="8229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74903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Equity Curve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023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Line chart: cumulative equity over trade sequence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657600"/>
            <a:ext cx="3383280" cy="8229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374903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  <a:latin typeface="Calibri"/>
              </a:defRPr>
            </a:pPr>
            <a:r>
              <a:t>P&amp;L Per Trade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023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Bar chart: green (win) / red (loss) per trade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3657600"/>
            <a:ext cx="3383280" cy="8229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374903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78BFA"/>
                </a:solidFill>
                <a:latin typeface="Calibri"/>
              </a:defRPr>
            </a:pPr>
            <a:r>
              <a:t>P&amp;L by Category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023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Breakdown by market category with win rate per category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4846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ACC15"/>
                </a:solidFill>
                <a:latin typeface="Calibri"/>
              </a:defRPr>
            </a:pPr>
            <a:r>
              <a:t>TRADE HISTORY TABLE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5212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Full log: ticker, side, category, entry/exit prices, log return, P&amp;L, MAE, MFE, win/loss.</a:t>
            </a:r>
            <a:br/>
            <a:r>
              <a:t>Editable notes per trade  |  CSV export (live + paper)  |  Sharpe Ratio Guide (&lt; 1 poor, 1-2 good, &gt; 2 excellent)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Testing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Backtesting and shadow trading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029200" cy="43891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  <a:latin typeface="Calibri"/>
              </a:defRPr>
            </a:pPr>
            <a:r>
              <a:t>BACKTESTER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Config Panel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286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Initial balance, entry/exit thresholds, min confidence, max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Single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743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Execute one backtest with current parameters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004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Param Sweep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200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Test multiple parameter combos, ranked by Sharpe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576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6576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Win rate, Sharpe, P&amp;L, profit factor, CV accuracy, OOB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Equity Chart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114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Line chart of backtest equity curve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5720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572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Top 15 feature importance bar chart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Trade 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5029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Every simulated trade with entry/exit, P&amp;L, 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4864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Sweep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5486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All parameter combos ranked by performance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1737360"/>
            <a:ext cx="5029200" cy="43891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1828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0A5FA"/>
                </a:solidFill>
                <a:latin typeface="Calibri"/>
              </a:defRPr>
            </a:pPr>
            <a:r>
              <a:t>SHADOW TRADING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2860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Virtual Funds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286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Add $100-$10,000 demo money or custom amount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7432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Controls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743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Reset, Train Model, Scan Once, Auto Scan (60s loop)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2004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State Cards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200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Balance, positions, total trades (W/L), Sharpe, P&amp;L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6576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Model 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6576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Trained vs heuristic mode, sample 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1148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Positions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114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Open shadow positions with entry price &amp; model prob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5720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Equity Chart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4572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Shadow equity curve over trade sequence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0292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Trade Log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5029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All shadow trades with entry/exit and P&amp;L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4864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Scan Log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5486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Reverse-chronological feed of scan results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Settings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Configuration, automation, and monitoring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5943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Connections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7830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Live status indicators for Kalshi API, Claude AI, Supabase, environment (demo/live), RF model info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23160"/>
            <a:ext cx="10698480" cy="5943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  <a:latin typeface="Calibri"/>
              </a:defRPr>
            </a:pPr>
            <a:r>
              <a:t>Trading Parameters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468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Max bet ($25), min edge (8%), daily loss limit ($100), max positions (10), scan limit (20 events), Kelly fraction (0.5)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08960"/>
            <a:ext cx="10698480" cy="5943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ACC15"/>
                </a:solidFill>
                <a:latin typeface="Calibri"/>
              </a:defRPr>
            </a:pPr>
            <a:r>
              <a:t>24/7 Automation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1546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Auto-Scan toggle (paper trading loop) + Auto-Trade toggle (live Kalshi orders). Configurable scan interval. Scan result log.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94760"/>
            <a:ext cx="10698480" cy="5943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840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78BFA"/>
                </a:solidFill>
                <a:latin typeface="Calibri"/>
              </a:defRPr>
            </a:pPr>
            <a:r>
              <a:t>Trade Logs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8404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Tabbed view: Shadow vs Live. Shows open positions, completed trades with P&amp;L, recent activity feed. Auto-refreshes every 30s.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80560"/>
            <a:ext cx="10698480" cy="5943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AFA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26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AFAFA"/>
                </a:solidFill>
                <a:latin typeface="Calibri"/>
              </a:defRPr>
            </a:pPr>
            <a:r>
              <a:t>Notifications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5262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Slack and Discord webhook status display. Test button sends sample alert to configured channels.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166360"/>
            <a:ext cx="10698480" cy="5943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212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7171"/>
                </a:solidFill>
                <a:latin typeface="Calibri"/>
              </a:defRPr>
            </a:pPr>
            <a:r>
              <a:t>Model Retrain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2120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Schedule retraining by days (mon/wed/fri) and hour (UTC). View next run. Trigger immediate retrain.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852160"/>
            <a:ext cx="10698480" cy="5943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8C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897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C8C9B"/>
                </a:solidFill>
                <a:latin typeface="Calibri"/>
              </a:defRPr>
            </a:pPr>
            <a:r>
              <a:t>Strategy Reference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5897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Read-only summary: RF model specs, Kelly sizing, risk limits, entry/exit rules. Quick reference card.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Key terms and abbreviations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7830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Open Interest — number of outstanding contracts not yet settled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95728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414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44144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Max Adverse Excursion — worst drawdown during a trade's life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54096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998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MFE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099816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Max Favorable Excursion — best unrealized profit during a trade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12464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581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PF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75818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Profit Factor — ratio of gross profits to gross losses (&gt; 1 = profitable)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70831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CV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416551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Cross-Validation — k-fold model evaluation to prevent overfitting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029200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749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OOB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0749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Out-of-Bag score — RF's built-in validation using unsampled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687568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73328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Sharpe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73328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Sharpe Ratio — return per unit of risk: (mean return) / (std dev). &lt; 1 poor, 1-2 good, &gt; 2 excellent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59" y="1737360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39" y="1783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Kelly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17830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Kelly Criterion — optimal bet sizing formula: f* = (bp - q) / b. We use half-Kelly (0.5x) for safety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2395728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39" y="24414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RF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244144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Random Forest — ensemble of 500 decision trees, each seeing random feature subsets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59" y="3054096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39" y="30998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GB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3099816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Gradient Boosting — 150 sequential trees that correct prior errors (learning rate 0.01)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59" y="3712464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9" y="37581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Edge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375818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Model probability minus market probability — positive means undervalued opportunity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59" y="4370831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39" y="441655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Brier Score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79" y="4416551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Probability calibration metric — lower is better, used to weight RF vs GB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09359" y="5029200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39" y="50749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AUC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79" y="50749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Area Under ROC Curve — classification quality metric. 0.84+ for our ensemble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9359" y="5687568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39" y="573328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Paper Trading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79" y="573328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Shadow trading with virtual funds using real market data — no real money at risk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Quick setup guide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48640" cy="548640"/>
          </a:xfrm>
          <a:prstGeom prst="roundRect">
            <a:avLst/>
          </a:prstGeom>
          <a:solidFill>
            <a:srgbClr val="1E1E24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D399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737360"/>
            <a:ext cx="9966960" cy="82296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783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Clone &amp; Install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783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git clone &lt;repo&gt; &amp;&amp; cd prediction-market-bot</a:t>
            </a:r>
            <a:br/>
            <a:r>
              <a:t>pip install -r requirements.txt &amp;&amp; cd frontend &amp;&amp; npm install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97480"/>
            <a:ext cx="548640" cy="548640"/>
          </a:xfrm>
          <a:prstGeom prst="roundRect">
            <a:avLst/>
          </a:prstGeom>
          <a:solidFill>
            <a:srgbClr val="1E1E24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7889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0A5F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2697480"/>
            <a:ext cx="9966960" cy="82296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2743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  <a:latin typeface="Calibri"/>
              </a:defRPr>
            </a:pPr>
            <a:r>
              <a:t>Configure Environment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743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Copy .env.example to .env</a:t>
            </a:r>
            <a:br/>
            <a:r>
              <a:t>Set KALSHI_API_KEY_ID, KALSHI_PRIVATE_KEY_PATH</a:t>
            </a:r>
            <a:br/>
            <a:r>
              <a:t>Optional: ANTHROPIC_API_KEY, SUPABASE_URL, SUPABASE_KEY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57600"/>
            <a:ext cx="548640" cy="548640"/>
          </a:xfrm>
          <a:prstGeom prst="roundRect">
            <a:avLst/>
          </a:prstGeom>
          <a:solidFill>
            <a:srgbClr val="1E1E24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7490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ACC15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3657600"/>
            <a:ext cx="9966960" cy="82296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370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CC15"/>
                </a:solidFill>
                <a:latin typeface="Calibri"/>
              </a:defRPr>
            </a:pPr>
            <a:r>
              <a:t>Start Backend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703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python -m bot.server</a:t>
            </a:r>
            <a:br/>
            <a:r>
              <a:t>Runs FastAPI on port 8000 with 40+ REST endpoints</a:t>
            </a:r>
            <a:br/>
            <a:r>
              <a:t>Auto-connects to Kalshi API (demo mode by default)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617720"/>
            <a:ext cx="548640" cy="548640"/>
          </a:xfrm>
          <a:prstGeom prst="roundRect">
            <a:avLst/>
          </a:prstGeom>
          <a:solidFill>
            <a:srgbClr val="1E1E24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7091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A78BF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63040" y="4617720"/>
            <a:ext cx="9966960" cy="82296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3736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Calibri"/>
              </a:defRPr>
            </a:pPr>
            <a:r>
              <a:t>Start Frontend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6634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cd frontend &amp;&amp; npm run dev</a:t>
            </a:r>
            <a:br/>
            <a:r>
              <a:t>Vite dev server on port 5173</a:t>
            </a:r>
            <a:br/>
            <a:r>
              <a:t>Proxies API calls to backend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577840"/>
            <a:ext cx="548640" cy="548640"/>
          </a:xfrm>
          <a:prstGeom prst="roundRect">
            <a:avLst/>
          </a:prstGeom>
          <a:solidFill>
            <a:srgbClr val="1E1E24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6692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D399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63040" y="5577840"/>
            <a:ext cx="9966960" cy="82296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3736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First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6235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Go to Settings — verify all connections are green</a:t>
            </a:r>
            <a:br/>
            <a:r>
              <a:t>Go to Testing — add shadow funds, train model, run first scan</a:t>
            </a:r>
            <a:br/>
            <a:r>
              <a:t>Go to Signals — review entry signals before enabling auto-trade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